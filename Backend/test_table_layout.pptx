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44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5029200"/>
            <a:ext cx="3474720" cy="3474720"/>
          </a:xfrm>
          <a:prstGeom prst="ellipse">
            <a:avLst/>
          </a:prstGeom>
          <a:solidFill>
            <a:srgbClr val="15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2880360"/>
            <a:ext cx="7924601" cy="4251960"/>
          </a:xfrm>
          <a:prstGeom prst="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54864"/>
            <a:ext cx="1463040" cy="1463040"/>
          </a:xfrm>
          <a:prstGeom prst="ellipse">
            <a:avLst/>
          </a:prstGeom>
          <a:solidFill>
            <a:srgbClr val="19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5669280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0" b="1">
                <a:solidFill>
                  <a:srgbClr val="122A43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"/>
            <a:ext cx="4754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2400" b="1">
                <a:solidFill>
                  <a:srgbClr val="2061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"/>
            <a:ext cx="8899855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仅含表格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69848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252728"/>
          <a:ext cx="108200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1F2D3D"/>
                          </a:solidFill>
                        </a:rPr>
                        <a:t>物理量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符号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公式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转动惯量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f>
                              <m:num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den>
                            </m:f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m</m:t>
                            </m:r>
                            <m:sSup>
                              <m:sSupPr>
                                <m:ctrlPr/>
                              </m:sSupPr>
                              <m:e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R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sup>
                            </m:sSup>
                          </m:oMath>
                        </m:oMathPara>
                      </a14:m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均质圆柱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角动量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L=I</m:t>
                            </m:r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ω</m:t>
                            </m:r>
                          </m:oMath>
                        </m:oMathPara>
                      </a14:m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刚体旋转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力矩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M=I</m:t>
                            </m:r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α</m:t>
                            </m:r>
                          </m:oMath>
                        </m:oMathPara>
                      </a14:m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转动第二定律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44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5029200"/>
            <a:ext cx="3474720" cy="3474720"/>
          </a:xfrm>
          <a:prstGeom prst="ellipse">
            <a:avLst/>
          </a:prstGeom>
          <a:solidFill>
            <a:srgbClr val="15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2880360"/>
            <a:ext cx="7924601" cy="4251960"/>
          </a:xfrm>
          <a:prstGeom prst="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54864"/>
            <a:ext cx="1463040" cy="1463040"/>
          </a:xfrm>
          <a:prstGeom prst="ellipse">
            <a:avLst/>
          </a:prstGeom>
          <a:solidFill>
            <a:srgbClr val="403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" y="5760720"/>
            <a:ext cx="1645920" cy="1645920"/>
          </a:xfrm>
          <a:prstGeom prst="ellipse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335" y="5669280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0" b="1">
                <a:solidFill>
                  <a:srgbClr val="122A43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"/>
            <a:ext cx="4754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2400" b="1">
                <a:solidFill>
                  <a:srgbClr val="206187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"/>
            <a:ext cx="8899855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正文列表 + 表格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69848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252728"/>
            <a:ext cx="10774375" cy="672998"/>
          </a:xfrm>
          <a:custGeom>
            <a:avLst/>
            <a:gdLst/>
            <a:pathLst>
              <a:path w="10774375" h="672998">
                <a:moveTo>
                  <a:pt x="0" y="0"/>
                </a:moveTo>
                <a:lnTo>
                  <a:pt x="10672775" y="0"/>
                </a:lnTo>
                <a:arcTo wR="101600" hR="101600" stAng="-5400000" swAng="5400000"/>
                <a:lnTo>
                  <a:pt x="10774375" y="571398"/>
                </a:lnTo>
                <a:arcTo wR="101600" hR="101600" stAng="0" swAng="5400000"/>
                <a:lnTo>
                  <a:pt x="0" y="672998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252728"/>
            <a:ext cx="50292" cy="67299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307592"/>
            <a:ext cx="10600639" cy="5632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700">
                <a:solidFill>
                  <a:srgbClr val="F1F5F9"/>
                </a:solidFill>
              </a:rPr>
              <a:t>转动力学研究刚体旋转运动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80590"/>
            <a:ext cx="10774375" cy="672998"/>
          </a:xfrm>
          <a:custGeom>
            <a:avLst/>
            <a:gdLst/>
            <a:pathLst>
              <a:path w="10774375" h="672998">
                <a:moveTo>
                  <a:pt x="0" y="0"/>
                </a:moveTo>
                <a:lnTo>
                  <a:pt x="10672775" y="0"/>
                </a:lnTo>
                <a:arcTo wR="101600" hR="101600" stAng="-5400000" swAng="5400000"/>
                <a:lnTo>
                  <a:pt x="10774375" y="571398"/>
                </a:lnTo>
                <a:arcTo wR="101600" hR="101600" stAng="0" swAng="5400000"/>
                <a:lnTo>
                  <a:pt x="0" y="672998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980590"/>
            <a:ext cx="50292" cy="67299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035454"/>
            <a:ext cx="10600639" cy="5632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700">
                <a:solidFill>
                  <a:srgbClr val="F1F5F9"/>
                </a:solidFill>
              </a:rPr>
              <a:t>类比平动：力→力矩，质量→转动惯量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08452"/>
            <a:ext cx="10774375" cy="672998"/>
          </a:xfrm>
          <a:custGeom>
            <a:avLst/>
            <a:gdLst/>
            <a:pathLst>
              <a:path w="10774375" h="672998">
                <a:moveTo>
                  <a:pt x="0" y="0"/>
                </a:moveTo>
                <a:lnTo>
                  <a:pt x="10672775" y="0"/>
                </a:lnTo>
                <a:arcTo wR="101600" hR="101600" stAng="-5400000" swAng="5400000"/>
                <a:lnTo>
                  <a:pt x="10774375" y="571398"/>
                </a:lnTo>
                <a:arcTo wR="101600" hR="101600" stAng="0" swAng="5400000"/>
                <a:lnTo>
                  <a:pt x="0" y="672998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708452"/>
            <a:ext cx="50292" cy="67299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2763316"/>
            <a:ext cx="10600639" cy="5632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700">
                <a:solidFill>
                  <a:srgbClr val="F1F5F9"/>
                </a:solidFill>
              </a:rPr>
              <a:t>角动量守恒定律广泛应用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3509467"/>
          <a:ext cx="108200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1F2D3D"/>
                          </a:solidFill>
                        </a:rPr>
                        <a:t>物理量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公式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转动惯量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I=</m:t>
                            </m:r>
                            <m:f>
                              <m:num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den>
                            </m:f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m</m:t>
                            </m:r>
                            <m:sSup>
                              <m:sSupPr>
                                <m:ctrlPr/>
                              </m:sSupPr>
                              <m:e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R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sup>
                            </m:sSup>
                          </m:oMath>
                        </m:oMathPara>
                      </a14:m>
                    </a:p>
                  </a:txBody>
                  <a:tcPr>
                    <a:solidFill>
                      <a:srgbClr val="122A4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角动量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L=I</m:t>
                            </m:r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ω</m:t>
                            </m:r>
                          </m:oMath>
                        </m:oMathPara>
                      </a14:m>
                    </a:p>
                  </a:txBody>
                  <a:tcPr>
                    <a:solidFill>
                      <a:srgbClr val="0D17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44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5029200"/>
            <a:ext cx="3474720" cy="3474720"/>
          </a:xfrm>
          <a:prstGeom prst="ellipse">
            <a:avLst/>
          </a:prstGeom>
          <a:solidFill>
            <a:srgbClr val="15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2880360"/>
            <a:ext cx="7924601" cy="4251960"/>
          </a:xfrm>
          <a:prstGeom prst="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73471" y="1161287"/>
            <a:ext cx="1188720" cy="5513832"/>
          </a:xfrm>
          <a:prstGeom prst="ellipse">
            <a:avLst/>
          </a:prstGeom>
          <a:solidFill>
            <a:srgbClr val="24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5669280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0" b="1">
                <a:solidFill>
                  <a:srgbClr val="122A43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"/>
            <a:ext cx="4754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2400" b="1">
                <a:solidFill>
                  <a:srgbClr val="206187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"/>
            <a:ext cx="8899855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双列布局 + 表格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69848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52728"/>
            <a:ext cx="5236311" cy="841247"/>
          </a:xfrm>
          <a:custGeom>
            <a:avLst/>
            <a:gdLst/>
            <a:pathLst>
              <a:path w="5236311" h="841247">
                <a:moveTo>
                  <a:pt x="0" y="0"/>
                </a:moveTo>
                <a:lnTo>
                  <a:pt x="5134711" y="0"/>
                </a:lnTo>
                <a:arcTo wR="101600" hR="101600" stAng="-5400000" swAng="5400000"/>
                <a:lnTo>
                  <a:pt x="5236311" y="739647"/>
                </a:lnTo>
                <a:arcTo wR="101600" hR="101600" stAng="0" swAng="5400000"/>
                <a:lnTo>
                  <a:pt x="0" y="841247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252728"/>
            <a:ext cx="50292" cy="84124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325880"/>
            <a:ext cx="5044287" cy="694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800">
                <a:solidFill>
                  <a:srgbClr val="F1F5F9"/>
                </a:solidFill>
              </a:rPr>
              <a:t>平动动能 Eₖ = mv²/2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57984"/>
            <a:ext cx="5236311" cy="841247"/>
          </a:xfrm>
          <a:custGeom>
            <a:avLst/>
            <a:gdLst/>
            <a:pathLst>
              <a:path w="5236311" h="841247">
                <a:moveTo>
                  <a:pt x="0" y="0"/>
                </a:moveTo>
                <a:lnTo>
                  <a:pt x="5134711" y="0"/>
                </a:lnTo>
                <a:arcTo wR="101600" hR="101600" stAng="-5400000" swAng="5400000"/>
                <a:lnTo>
                  <a:pt x="5236311" y="739647"/>
                </a:lnTo>
                <a:arcTo wR="101600" hR="101600" stAng="0" swAng="5400000"/>
                <a:lnTo>
                  <a:pt x="0" y="841247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157984"/>
            <a:ext cx="50292" cy="84124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231136"/>
            <a:ext cx="5044287" cy="694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800">
                <a:solidFill>
                  <a:srgbClr val="F1F5F9"/>
                </a:solidFill>
              </a:rPr>
              <a:t>角速度 ω = Δθ/Δt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1252728"/>
            <a:ext cx="5236311" cy="841247"/>
          </a:xfrm>
          <a:custGeom>
            <a:avLst/>
            <a:gdLst/>
            <a:pathLst>
              <a:path w="5236311" h="841247">
                <a:moveTo>
                  <a:pt x="0" y="0"/>
                </a:moveTo>
                <a:lnTo>
                  <a:pt x="5134711" y="0"/>
                </a:lnTo>
                <a:arcTo wR="101600" hR="101600" stAng="-5400000" swAng="5400000"/>
                <a:lnTo>
                  <a:pt x="5236311" y="739647"/>
                </a:lnTo>
                <a:arcTo wR="101600" hR="101600" stAng="0" swAng="5400000"/>
                <a:lnTo>
                  <a:pt x="0" y="841247"/>
                </a:lnTo>
                <a:close/>
              </a:path>
            </a:pathLst>
          </a:custGeom>
          <a:solidFill>
            <a:srgbClr val="060B15"/>
          </a:solidFill>
          <a:ln w="9525">
            <a:solidFill>
              <a:srgbClr val="384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863" y="1252728"/>
            <a:ext cx="50292" cy="84124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879" y="1325880"/>
            <a:ext cx="5044287" cy="694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800">
                <a:solidFill>
                  <a:srgbClr val="F1F5F9"/>
                </a:solidFill>
              </a:rPr>
              <a:t>刚体绕固定轴转动时，转动惯量 I 由质量分布决定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85800" y="3108960"/>
          <a:ext cx="10820095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1F2D3D"/>
                          </a:solidFill>
                        </a:rPr>
                        <a:t>形状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转轴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1F2D3D"/>
                          </a:solidFill>
                        </a:rPr>
                        <a:t>转动惯量I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均质圆柱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中心轴</a:t>
                      </a:r>
                    </a:p>
                  </a:txBody>
                  <a:tcPr>
                    <a:solidFill>
                      <a:srgbClr val="12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f>
                              <m:num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den>
                            </m:f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m</m:t>
                            </m:r>
                            <m:sSup>
                              <m:sSupPr>
                                <m:ctrlPr/>
                              </m:sSupPr>
                              <m:e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R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sup>
                            </m:sSup>
                          </m:oMath>
                        </m:oMathPara>
                      </a14:m>
                    </a:p>
                  </a:txBody>
                  <a:tcPr>
                    <a:solidFill>
                      <a:srgbClr val="122A4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1F5F9"/>
                          </a:solidFill>
                        </a:rPr>
                        <a:t>均质细杆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F1F5F9"/>
                          </a:solidFill>
                        </a:rPr>
                        <a:t>端点</a:t>
                      </a:r>
                    </a:p>
                  </a:txBody>
                  <a:tcPr>
                    <a:solidFill>
                      <a:srgbClr val="0D1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14:m xmlns:a14="http://schemas.microsoft.com/office/drawing/2010/main" xmlns:m="http://schemas.openxmlformats.org/officeDocument/2006/math">
                        <m:oMathPara>
                          <m:oMath>
                            <m:f>
                              <m:num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3</m:t>
                                </m:r>
                              </m:den>
                            </m:f>
                            <m:r>
                              <m:rPr>
                                <m:sty m:val="p"/>
                                <a:rPr>
                                  <a:solidFill>
                                    <a:srgbClr val="F1F5F9"/>
                                  </a:solidFill>
                                </a:rPr>
                              </m:rPr>
                              <m:t xml:space="preserve">m</m:t>
                            </m:r>
                            <m:sSup>
                              <m:sSupPr>
                                <m:ctrlPr/>
                              </m:sSupPr>
                              <m:e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L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  <a:rPr>
                                      <a:solidFill>
                                        <a:srgbClr val="F1F5F9"/>
                                      </a:solidFill>
                                    </a:rPr>
                                  </m:rPr>
                                  <m:t xml:space="preserve">2</m:t>
                                </m:r>
                              </m:sup>
                            </m:sSup>
                          </m:oMath>
                        </m:oMathPara>
                      </a14:m>
                    </a:p>
                  </a:txBody>
                  <a:tcPr>
                    <a:solidFill>
                      <a:srgbClr val="0D17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