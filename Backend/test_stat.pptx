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443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5029200"/>
            <a:ext cx="3474720" cy="3474720"/>
          </a:xfrm>
          <a:prstGeom prst="ellipse">
            <a:avLst/>
          </a:prstGeom>
          <a:solidFill>
            <a:srgbClr val="15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2880360"/>
            <a:ext cx="7924601" cy="4251960"/>
          </a:xfrm>
          <a:prstGeom prst="rect">
            <a:avLst/>
          </a:prstGeom>
          <a:solidFill>
            <a:srgbClr val="11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901287" y="1298448"/>
            <a:ext cx="4389120" cy="4389120"/>
          </a:xfrm>
          <a:prstGeom prst="ellipse">
            <a:avLst/>
          </a:prstGeom>
          <a:solidFill>
            <a:srgbClr val="2B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15687" y="2121408"/>
            <a:ext cx="2560320" cy="2560320"/>
          </a:xfrm>
          <a:prstGeom prst="ellipse">
            <a:avLst/>
          </a:prstGeom>
          <a:solidFill>
            <a:srgbClr val="21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54335" y="5669280"/>
            <a:ext cx="1600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0" b="1">
                <a:solidFill>
                  <a:srgbClr val="122A43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"/>
            <a:ext cx="475488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>
              <a:defRPr sz="2400" b="1">
                <a:solidFill>
                  <a:srgbClr val="206187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20"/>
            <a:ext cx="8899855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>
              <a:defRPr sz="3000" b="1">
                <a:solidFill>
                  <a:srgbClr val="38BDF8"/>
                </a:solidFill>
              </a:defRPr>
            </a:pPr>
            <a:r>
              <a:t>核心物理量梳理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69848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02103" y="1435607"/>
            <a:ext cx="2377440" cy="2377440"/>
          </a:xfrm>
          <a:prstGeom prst="ellipse">
            <a:avLst/>
          </a:prstGeom>
          <a:solidFill>
            <a:srgbClr val="2D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2063" y="1720900"/>
            <a:ext cx="3017520" cy="1806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5600">
                <a:solidFill>
                  <a:srgbClr val="F59E0B"/>
                </a:solidFill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541004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0" sz="1200">
                <a:solidFill>
                  <a:srgbClr val="F1F5F9"/>
                </a:solidFill>
              </a:rPr>
              <a:t>角速度  单位: rad/s</a:t>
            </a:r>
          </a:p>
        </p:txBody>
      </p:sp>
      <p:sp>
        <p:nvSpPr>
          <p:cNvPr id="15" name="Oval 14"/>
          <p:cNvSpPr/>
          <p:nvPr/>
        </p:nvSpPr>
        <p:spPr>
          <a:xfrm>
            <a:off x="7612151" y="1435607"/>
            <a:ext cx="2377440" cy="2377440"/>
          </a:xfrm>
          <a:prstGeom prst="ellipse">
            <a:avLst/>
          </a:prstGeom>
          <a:solidFill>
            <a:srgbClr val="2D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2111" y="1720900"/>
            <a:ext cx="3017520" cy="1806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5600">
                <a:solidFill>
                  <a:srgbClr val="F59E0B"/>
                </a:solidFill>
              </a:rPr>
              <a:t>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3886200"/>
            <a:ext cx="541004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0" sz="1200">
                <a:solidFill>
                  <a:srgbClr val="F1F5F9"/>
                </a:solidFill>
              </a:rPr>
              <a:t>转动惯量  单位: kg*m2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79976"/>
            <a:ext cx="10820095" cy="2112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0" sz="1700">
                <a:solidFill>
                  <a:srgbClr val="F1F5F9"/>
                </a:solidFill>
              </a:rPr>
              <a:t>力矩 M: 力对转轴的转动效果，M = F*r*sin(theta) 角动量 L = I*w，角动量守恒定律广泛应用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